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cross-day ROC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0.25</c:v>
                  </c:pt>
                  <c:pt idx="6">
                    <c:v>0.30</c:v>
                  </c:pt>
                  <c:pt idx="7">
                    <c:v>0.35</c:v>
                  </c:pt>
                  <c:pt idx="8">
                    <c:v>0.40</c:v>
                  </c:pt>
                  <c:pt idx="9">
                    <c:v>0.45</c:v>
                  </c:pt>
                  <c:pt idx="10">
                    <c:v>0.50</c:v>
                  </c:pt>
                  <c:pt idx="11">
                    <c:v>0.55</c:v>
                  </c:pt>
                  <c:pt idx="12">
                    <c:v>0.60</c:v>
                  </c:pt>
                  <c:pt idx="13">
                    <c:v>0.65</c:v>
                  </c:pt>
                  <c:pt idx="14">
                    <c:v>0.70</c:v>
                  </c:pt>
                  <c:pt idx="15">
                    <c:v>0.75</c:v>
                  </c:pt>
                  <c:pt idx="16">
                    <c:v>0.80</c:v>
                  </c:pt>
                  <c:pt idx="17">
                    <c:v>0.85</c:v>
                  </c:pt>
                  <c:pt idx="18">
                    <c:v>0.90</c:v>
                  </c:pt>
                  <c:pt idx="19">
                    <c:v>0.95</c:v>
                  </c:pt>
                  <c:pt idx="20">
                    <c:v>1.00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0.698</c:v>
                </c:pt>
                <c:pt idx="2">
                  <c:v>0.7586</c:v>
                </c:pt>
                <c:pt idx="3">
                  <c:v>0.7964</c:v>
                </c:pt>
                <c:pt idx="4">
                  <c:v>0.8244</c:v>
                </c:pt>
                <c:pt idx="5">
                  <c:v>0.8467</c:v>
                </c:pt>
                <c:pt idx="6">
                  <c:v>0.8655</c:v>
                </c:pt>
                <c:pt idx="7">
                  <c:v>0.8816</c:v>
                </c:pt>
                <c:pt idx="8">
                  <c:v>0.8959</c:v>
                </c:pt>
                <c:pt idx="9">
                  <c:v>0.9086</c:v>
                </c:pt>
                <c:pt idx="10">
                  <c:v>0.9202</c:v>
                </c:pt>
                <c:pt idx="11">
                  <c:v>0.9308</c:v>
                </c:pt>
                <c:pt idx="12">
                  <c:v>0.9405</c:v>
                </c:pt>
                <c:pt idx="13">
                  <c:v>0.9496</c:v>
                </c:pt>
                <c:pt idx="14">
                  <c:v>0.9581</c:v>
                </c:pt>
                <c:pt idx="15">
                  <c:v>0.9661</c:v>
                </c:pt>
                <c:pt idx="16">
                  <c:v>0.9736</c:v>
                </c:pt>
                <c:pt idx="17">
                  <c:v>0.9807</c:v>
                </c:pt>
                <c:pt idx="18">
                  <c:v>0.9874</c:v>
                </c:pt>
                <c:pt idx="19">
                  <c:v>0.9939</c:v>
                </c:pt>
                <c:pt idx="20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3A3F3F"/>
            </a:solidFill>
            <a:ln w="38100" cap="flat">
              <a:solidFill>
                <a:srgbClr val="3A3F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A3F3F"/>
              </a:solidFill>
              <a:ln w="9525" cap="flat">
                <a:solidFill>
                  <a:srgbClr val="3A3F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0.25</c:v>
                  </c:pt>
                  <c:pt idx="6">
                    <c:v>0.30</c:v>
                  </c:pt>
                  <c:pt idx="7">
                    <c:v>0.35</c:v>
                  </c:pt>
                  <c:pt idx="8">
                    <c:v>0.40</c:v>
                  </c:pt>
                  <c:pt idx="9">
                    <c:v>0.45</c:v>
                  </c:pt>
                  <c:pt idx="10">
                    <c:v>0.50</c:v>
                  </c:pt>
                  <c:pt idx="11">
                    <c:v>0.55</c:v>
                  </c:pt>
                  <c:pt idx="12">
                    <c:v>0.60</c:v>
                  </c:pt>
                  <c:pt idx="13">
                    <c:v>0.65</c:v>
                  </c:pt>
                  <c:pt idx="14">
                    <c:v>0.70</c:v>
                  </c:pt>
                  <c:pt idx="15">
                    <c:v>0.75</c:v>
                  </c:pt>
                  <c:pt idx="16">
                    <c:v>0.80</c:v>
                  </c:pt>
                  <c:pt idx="17">
                    <c:v>0.85</c:v>
                  </c:pt>
                  <c:pt idx="18">
                    <c:v>0.90</c:v>
                  </c:pt>
                  <c:pt idx="19">
                    <c:v>0.95</c:v>
                  </c:pt>
                  <c:pt idx="20">
                    <c:v>1.00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9A9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49A97"/>
                    </a:solidFill>
                    <a:latin typeface="Arial"/>
                  </a:rPr>
                  <a:t>false accept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9A9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49A97"/>
                    </a:solidFill>
                    <a:latin typeface="Arial"/>
                  </a:rPr>
                  <a:t>true accept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descriptive EER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7F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m1 historical +
mean template</c:v>
                  </c:pt>
                  <c:pt idx="1">
                    <c:v>m2 six-axis +
two templates</c:v>
                  </c:pt>
                  <c:pt idx="2">
                    <c:v>m3 + lagged
covariance</c:v>
                  </c:pt>
                  <c:pt idx="3">
                    <c:v>m4 DEV-selected
(frozen thr.)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2.5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7F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 %</c:v>
                </c:pt>
              </c:strCache>
            </c:strRef>
          </c:tx>
          <c:spPr>
            <a:solidFill>
              <a:srgbClr val="FCD3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Control362</c:v>
                  </c:pt>
                  <c:pt idx="1">
                    <c:v>Canonical336</c:v>
                  </c:pt>
                  <c:pt idx="2">
                    <c:v>Canonical362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0.76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FRR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Control362</c:v>
                  </c:pt>
                  <c:pt idx="1">
                    <c:v>Canonical336</c:v>
                  </c:pt>
                  <c:pt idx="2">
                    <c:v>Canonical362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15.13</c:v>
                </c:pt>
                <c:pt idx="1">
                  <c:v>18.28</c:v>
                </c:pt>
                <c:pt idx="2">
                  <c:v>14.79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EER %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Control362</c:v>
                  </c:pt>
                  <c:pt idx="1">
                    <c:v>Canonical336</c:v>
                  </c:pt>
                  <c:pt idx="2">
                    <c:v>Canonical362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4.8</c:v>
                </c:pt>
                <c:pt idx="1">
                  <c:v>6.63</c:v>
                </c:pt>
                <c:pt idx="2">
                  <c:v>5.88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3E6E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9A9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FRR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Clean</c:v>
                  </c:pt>
                  <c:pt idx="1">
                    <c:v>30° rotation</c:v>
                  </c:pt>
                  <c:pt idx="2">
                    <c:v>90° rotation</c:v>
                  </c:pt>
                  <c:pt idx="3">
                    <c:v>1% noise</c:v>
                  </c:pt>
                  <c:pt idx="4">
                    <c:v>5% noise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15.13</c:v>
                </c:pt>
                <c:pt idx="1">
                  <c:v>85.19</c:v>
                </c:pt>
                <c:pt idx="2">
                  <c:v>99.5</c:v>
                </c:pt>
                <c:pt idx="3">
                  <c:v>63.54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3E6E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cnn_lstm (B3)</c:v>
                  </c:pt>
                  <c:pt idx="1">
                    <c:v>se_convnet (B5)</c:v>
                  </c:pt>
                  <c:pt idx="2">
                    <c:v>gait_vit (B7)</c:v>
                  </c:pt>
                  <c:pt idx="3">
                    <c:v>multitask (B2)</c:v>
                  </c:pt>
                  <c:pt idx="4">
                    <c:v>cnn_baseline (B1)</c:v>
                  </c:pt>
                  <c:pt idx="5">
                    <c:v>WISDM cnn_lstm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93.01</c:v>
                </c:pt>
                <c:pt idx="1">
                  <c:v>92.94</c:v>
                </c:pt>
                <c:pt idx="2">
                  <c:v>92.37</c:v>
                </c:pt>
                <c:pt idx="3">
                  <c:v>90.84</c:v>
                </c:pt>
                <c:pt idx="4">
                  <c:v>89.55</c:v>
                </c:pt>
                <c:pt idx="5">
                  <c:v>86.68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3E6E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linear</c:v>
                  </c:pt>
                  <c:pt idx="1">
                    <c:v>larger ArcFace</c:v>
                  </c:pt>
                  <c:pt idx="2">
                    <c:v>selected descriptors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</c:v>
                </c:pt>
                <c:pt idx="1">
                  <c:v>18.59</c:v>
                </c:pt>
                <c:pt idx="2">
                  <c:v>11.65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WISDM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3E6E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linear</c:v>
                  </c:pt>
                  <c:pt idx="1">
                    <c:v>larger ArcFace</c:v>
                  </c:pt>
                  <c:pt idx="2">
                    <c:v>selected descriptors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18.56</c:v>
                </c:pt>
                <c:pt idx="1">
                  <c:v>16.25</c:v>
                </c:pt>
                <c:pt idx="2">
                  <c:v>12.63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3E6E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C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9A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0E0E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9A9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C0E0E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One minute: the project idea, then results, then honest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hero paragraph from the site,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stats strip. EER is the goal metric for passive authentication.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primary HAR neural winner actually worsened to EER 0.2146, so the descriptor route carried the improvement, not model size. These errors still do not establish usable passive authentication.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controlled leg-sensor result: only 50 genuine / 200 impostor claims; 8/10 genuine claims for one user rejected — usability limits. Say this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Frozen-threshold false accepts run 1/200 -&gt; 6/200 -&gt; 7/200 -&gt; 3/200 (1.5%); genuine rejections 11/50 -&gt; 1/50 -&gt; 0/50 -&gt; 0/50. At 3/200 the frozen result is not perfect and does not meet the 1% test FAR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30/90 degree constant-coordinate rotation its FRR stays 14.787% versus 85.190%/99.500% for the control — orientation-normalisation removes rotation sensitivity, at the cost of a slightly worse clean EER. Folds with FAR above 2%: 3/20 -&gt; 3/20 -&gt; 2/20.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threshold stays fixed; stress never selects a winner. This is the honest weak point — orientation/noise fragility.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2,947 test windows. WISDM activity_3 is near-perfect at 120/121; the cnn_lstm HAR errors sit almost entirely in SITTING&lt;-&gt;STANDING.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Descriptors win on both sources — model size alone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measurements, separate from biometric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Paper-inspired adaptations, not exact reproductions.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dependencies worth naming: B was blocked on A for WISDM subject IDs; C's finding that the Siamese baseline was unusable (EER 0.4162) fed back into B's metric-learning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honest numbers — they are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Specialization Project · MAHE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22860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 Biometrics</a:t>
            </a:r>
            <a:endParaRPr lang="en-US" sz="6600" dirty="0"/>
          </a:p>
        </p:txBody>
      </p:sp>
      <p:sp>
        <p:nvSpPr>
          <p:cNvPr id="6" name="Text 2"/>
          <p:cNvSpPr/>
          <p:nvPr/>
        </p:nvSpPr>
        <p:spPr>
          <a:xfrm>
            <a:off x="822960" y="37490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user authentication from wearable and smartphone inertial gait signals — an IMU metric-learning baseline with paper-inspired classification and efficiency comparisons.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2296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Amaan · data pipeline      Aditya · deep learning      Nimisha · evaluation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22960" y="5532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mentored by Manjunath Hegde · MAHE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822960" y="21945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walk, your phone and watch feel the motion through their accelerometers and gyroscopes — tiny sensors that measure how you move. Your stride, your rhythm and your posture all leave a signature in that signal.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22960" y="40233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authentication is the idea that this signature is personal enough to recognise you: instead of typing a password or pressing a fingerprint, the device just knows it is still you because it recognises how you move.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377440"/>
            <a:ext cx="3401568" cy="2377440"/>
          </a:xfrm>
          <a:prstGeom prst="roundRect">
            <a:avLst>
              <a:gd name="adj" fmla="val 3077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2542032"/>
            <a:ext cx="2944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1051560" y="3685032"/>
            <a:ext cx="2944368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cross-day EER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 v7 · day-1 vs day-2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498848" y="2377440"/>
            <a:ext cx="3401568" cy="2377440"/>
          </a:xfrm>
          <a:prstGeom prst="roundRect">
            <a:avLst>
              <a:gd name="adj" fmla="val 3077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27448" y="2542032"/>
            <a:ext cx="2944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0.9888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727448" y="3685032"/>
            <a:ext cx="2944368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 AUC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cross-day verification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74736" y="2377440"/>
            <a:ext cx="3401568" cy="2377440"/>
          </a:xfrm>
          <a:prstGeom prst="roundRect">
            <a:avLst>
              <a:gd name="adj" fmla="val 3077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03336" y="2542032"/>
            <a:ext cx="2944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0.0958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8403336" y="3685032"/>
            <a:ext cx="2944368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WISDM metric-learning EER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0.2010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5029200"/>
            <a:ext cx="3401568" cy="2377440"/>
          </a:xfrm>
          <a:prstGeom prst="roundRect">
            <a:avLst>
              <a:gd name="adj" fmla="val 3077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51560" y="5193792"/>
            <a:ext cx="2944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91.22%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1051560" y="6336792"/>
            <a:ext cx="2944368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Walking-detector accuracy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classification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98848" y="5029200"/>
            <a:ext cx="3401568" cy="2377440"/>
          </a:xfrm>
          <a:prstGeom prst="roundRect">
            <a:avLst>
              <a:gd name="adj" fmla="val 3077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27448" y="5193792"/>
            <a:ext cx="2944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E3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996 / 992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4727448" y="6336792"/>
            <a:ext cx="2944368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passing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1,545 subtests each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174736" y="594360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result, not a promise — details on the next slides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 metric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learning collapsed the equal-error rate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28600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430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WISDM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9260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4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0.2010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75488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4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48640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0.0958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7863840" y="2697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 batch-hard ensemble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11480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4300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2608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4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0.1764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754880" y="44348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4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548640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0.1044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7863840" y="4526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 + covariance normalization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cross-day authentication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Day-1 enrollment vs day-2 probes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2860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2450592"/>
            <a:ext cx="12801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51560" y="2814066"/>
            <a:ext cx="128016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22960" y="34290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51560" y="3593592"/>
            <a:ext cx="12801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0.9888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51560" y="3957066"/>
            <a:ext cx="128016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5720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51560" y="4736592"/>
            <a:ext cx="12801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7BD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51560" y="5100066"/>
            <a:ext cx="128016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FAR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571500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51560" y="58795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E3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51560" y="6016752"/>
            <a:ext cx="1280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108960" y="2194560"/>
          <a:ext cx="8229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4"/>
          <p:cNvSpPr/>
          <p:nvPr/>
        </p:nvSpPr>
        <p:spPr>
          <a:xfrm>
            <a:off x="3108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Santos v7 · predeclared 15/5/5 split · 5 untouched users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santos hillclimb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methods, one falling error line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9052560" y="265176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frozen-threshold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1/200 → 6/200 → 7/200 → 3/200 (1.5%)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rejections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11/50 → 1/50 → 0/50 → 0/50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orientation across three configurations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8229600" y="23774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orientation keeps FRR at 14.787% under 30°/90° rotation versus 85.190% / 99.500% for the control — rotation sensitivity removed, at the cost of a slightly worse clean EER.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 under stress — the honest weak point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905256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threshold stays fixed — stress never selects a winner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uci har · 2,947 test windows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classification accuracy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9052560" y="274320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 starts at 80% to show differences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 concentrate in SITTING↔STANDING confusion; walking classes are near-clean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 study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mean fold EER by method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905256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descriptors win on both sources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execution gains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468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263347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15.72×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1051560" y="3575304"/>
            <a:ext cx="16002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CSV windowing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054096" y="2468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82696" y="263347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10.98×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282696" y="3575304"/>
            <a:ext cx="16002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CPU→CUDA training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85232" y="2468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13832" y="263347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12.59×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5513832" y="3575304"/>
            <a:ext cx="16002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CPU→CUDA inference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516368" y="2468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44968" y="263347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9.83×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7744968" y="3575304"/>
            <a:ext cx="16002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CPU→CUDA training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Darkstar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747504" y="24688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6191A">
              <a:alpha val="65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76104" y="263347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15.98×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9976104" y="3575304"/>
            <a:ext cx="16002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CPU→CUDA inference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Darkstar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measurements, separate from biometric quality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→ implementation map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194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87552" y="23042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60020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Dehzangi et al. 2017 · Sensors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600200" y="25786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CNN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09360" y="2194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73952" y="23042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8660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2020 · IMWUT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086600" y="25786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METIER multi-task activity+user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" y="3090672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7552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Mekruksavanich &amp; Jitpattanakul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600200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DeepConvLSTM continuous auth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09360" y="3090672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73952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8660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 &amp; Li 2020 · Neurocomputing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086600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denoising autoencoders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22960" y="3986784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40965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600200" y="4050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Computers MDPI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600200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SE-DeepConvNet behavioural auth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309360" y="3986784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40965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086600" y="4050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Ruiz-Barroso et al. 2025 · Sci Rep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086600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edge gait (prune/quant/ONNX)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22960" y="4882896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16191A">
              <a:alpha val="60000"/>
            </a:srgbClr>
          </a:solidFill>
          <a:ln w="12700">
            <a:solidFill>
              <a:srgbClr val="2B2F2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49926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600200" y="4946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Hrudya &amp; Poornachandran 2025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600200" y="52669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SEGait-ConViT (GaitViT)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paper-inspired adaptations, not exact reproductions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work flowed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phases, two feedback loops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0C0E0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211580" y="3063240"/>
            <a:ext cx="0" cy="384048"/>
          </a:xfrm>
          <a:prstGeom prst="line">
            <a:avLst/>
          </a:prstGeom>
          <a:noFill/>
          <a:ln w="12700">
            <a:solidFill>
              <a:srgbClr val="3A3F3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20240" y="21945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Amaan — data pipeline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920240" y="257860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+ authentic WISDM AR v1.1 · restored participant IDs · 128-sample windowing (stride 64) · frozen data/adapter.py contract · NPZ features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22960" y="3474720"/>
            <a:ext cx="777240" cy="777240"/>
          </a:xfrm>
          <a:prstGeom prst="ellipse">
            <a:avLst/>
          </a:prstGeom>
          <a:solidFill>
            <a:srgbClr val="0C0E0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211580" y="4297680"/>
            <a:ext cx="0" cy="384048"/>
          </a:xfrm>
          <a:prstGeom prst="line">
            <a:avLst/>
          </a:prstGeom>
          <a:noFill/>
          <a:ln w="12700">
            <a:solidFill>
              <a:srgbClr val="3A3F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920240" y="34290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— deep learning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920240" y="381304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paper tracks (B1–B7) · 5 HAR models + WISDM + Siamese verification · metric-learning extension drove WISDM EER 0.2010 → 0.0958, HAR 0.1764 → 0.1044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" y="4709160"/>
            <a:ext cx="777240" cy="777240"/>
          </a:xfrm>
          <a:prstGeom prst="ellipse">
            <a:avLst/>
          </a:prstGeom>
          <a:solidFill>
            <a:srgbClr val="0C0E0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920240" y="46634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Nimisha — evaluation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20240" y="504748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EER/FAR/FRR semantics + ROC · cross-day Santos evaluation (EER 7.0%, AUC 0.9888) · calibration-frozen threshold · robustness &amp; timed takeover test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dependency: B blocked on A for WISDM subject IDs (resolved → unblocked) · feedback: C found the Siamese baseline unusable (EER 0.4162), which fed B's metric-learning work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gait biometrics · MAHE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6070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leaves us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1280160" y="27432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E3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gait authentication is promising — metric learning and canonical orientation both move the number — but orientation and noise fragility, and small evaluation sets, mean it is not yet usable for real authentication. The honest numbers are the deliverable.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2801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A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Amaan · Aditya · Nimisha — MAHE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2026-10-28T09:06:47Z</dcterms:created>
  <dcterms:modified xsi:type="dcterms:W3CDTF">2026-10-28T09:06:47Z</dcterms:modified>
</cp:coreProperties>
</file>